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9857DE-5469-4296-B5D1-0E5A20D828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C0971E-9E5B-4FBF-A430-400038BC1C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21598200">
            <a:off x="-227880" y="5488920"/>
            <a:ext cx="10515240" cy="178200"/>
          </a:xfrm>
          <a:prstGeom prst="rect">
            <a:avLst/>
          </a:prstGeom>
          <a:solidFill>
            <a:srgbClr val="bf57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4930560" y="2673000"/>
            <a:ext cx="25704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fld id="{2038B194-E86C-448A-B4D7-20A8E2A0CF50}" type="author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7772400" y="5462280"/>
            <a:ext cx="231516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r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Noto Sans CJK SC"/>
              </a:rPr>
              <a:t>Slide </a:t>
            </a:r>
            <a:fld id="{D7D64E96-C490-4F98-90D0-91F2109B86FD}" type="slidenum"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Noto Sans CJK SC"/>
              </a:rPr>
              <a:t>&lt;number&gt;</a:t>
            </a:fld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Noto Sans CJK SC"/>
              </a:rPr>
              <a:t>/</a:t>
            </a:r>
            <a:fld id="{FBA3BB2A-7261-48F3-BBFE-E6C6E1EFA869}" type="slidecount"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Noto Sans CJK SC"/>
              </a:rPr>
              <a:t>&lt;count&gt;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0" y="5462280"/>
            <a:ext cx="32004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spAutoFit/>
          </a:bodyPr>
          <a:p>
            <a:pPr marL="3672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Noto Sans CJK SC"/>
              </a:rPr>
              <a:t>Fun Methods for Calculating π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0080000" cy="137160"/>
          </a:xfrm>
          <a:prstGeom prst="rect">
            <a:avLst/>
          </a:prstGeom>
          <a:solidFill>
            <a:srgbClr val="bf57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4114800" y="5460480"/>
            <a:ext cx="18288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Colton Roe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C890406-1D5E-4CB0-A1A5-039F8D144C7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-228600" y="-228600"/>
            <a:ext cx="10515600" cy="365760"/>
          </a:xfrm>
          <a:prstGeom prst="rect">
            <a:avLst/>
          </a:prstGeom>
          <a:solidFill>
            <a:srgbClr val="bf57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-228600" y="5487120"/>
            <a:ext cx="10515600" cy="227880"/>
          </a:xfrm>
          <a:prstGeom prst="rect">
            <a:avLst/>
          </a:prstGeom>
          <a:solidFill>
            <a:srgbClr val="bf57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hyperlink" Target="https://youtu.be/6dTyOl1fmDo?si=2Ytav6EkIzkjxDS_" TargetMode="External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360" y="6858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 Methods for Calculating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246840" y="4572000"/>
            <a:ext cx="3657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Colton Roe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"/>
          <p:cNvPicPr/>
          <p:nvPr/>
        </p:nvPicPr>
        <p:blipFill>
          <a:blip r:embed="rId1"/>
          <a:stretch/>
        </p:blipFill>
        <p:spPr>
          <a:xfrm>
            <a:off x="3668400" y="1600200"/>
            <a:ext cx="2743200" cy="2743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Goals and Overview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Approximate π using three methods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Monte Carlo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Buffon’s Needle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Collision Simulation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Focus on the implementations rather than math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Live Simulation / Animation for each method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Monte Carlo Sampling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685800" y="1371600"/>
            <a:ext cx="45720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spcBef>
                <a:spcPts val="144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Generate a random point in a square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4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 if it’s within the circle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4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Repeat this for many points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4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Estimate Pi using the formula: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"/>
          <p:cNvPicPr/>
          <p:nvPr/>
        </p:nvPicPr>
        <p:blipFill>
          <a:blip r:embed="rId1"/>
          <a:stretch/>
        </p:blipFill>
        <p:spPr>
          <a:xfrm>
            <a:off x="457200" y="3561480"/>
            <a:ext cx="4114800" cy="55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"/>
          <p:cNvPicPr/>
          <p:nvPr/>
        </p:nvPicPr>
        <p:blipFill>
          <a:blip r:embed="rId2"/>
          <a:stretch/>
        </p:blipFill>
        <p:spPr>
          <a:xfrm>
            <a:off x="5295960" y="1420200"/>
            <a:ext cx="3848040" cy="200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"/>
          <p:cNvPicPr/>
          <p:nvPr/>
        </p:nvPicPr>
        <p:blipFill>
          <a:blip r:embed="rId3"/>
          <a:stretch/>
        </p:blipFill>
        <p:spPr>
          <a:xfrm>
            <a:off x="5257800" y="3657600"/>
            <a:ext cx="4683240" cy="68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"/>
          <p:cNvPicPr/>
          <p:nvPr/>
        </p:nvPicPr>
        <p:blipFill>
          <a:blip r:embed="rId4"/>
          <a:stretch/>
        </p:blipFill>
        <p:spPr>
          <a:xfrm>
            <a:off x="5257800" y="4510080"/>
            <a:ext cx="4280760" cy="74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36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Monte Carlo Results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639880" y="3886200"/>
            <a:ext cx="4800600" cy="139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Final estimate: 3.142392 (500,000 points, 3 correct digits)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Error: 0.0324%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Lots of variation at low sample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Converges slowly with many, many points needed for more correct digits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"/>
          <p:cNvPicPr/>
          <p:nvPr/>
        </p:nvPicPr>
        <p:blipFill>
          <a:blip r:embed="rId1"/>
          <a:stretch/>
        </p:blipFill>
        <p:spPr>
          <a:xfrm>
            <a:off x="2338920" y="914400"/>
            <a:ext cx="5402520" cy="297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“Monte Carlo” with a Uniform Distribution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98240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Divide the square into evenly spaced points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 if each point is within the circle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Then we use the same formula as before: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"/>
          <p:cNvPicPr/>
          <p:nvPr/>
        </p:nvPicPr>
        <p:blipFill>
          <a:blip r:embed="rId1"/>
          <a:stretch/>
        </p:blipFill>
        <p:spPr>
          <a:xfrm>
            <a:off x="685800" y="3104280"/>
            <a:ext cx="4114800" cy="55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"/>
          <p:cNvPicPr/>
          <p:nvPr/>
        </p:nvPicPr>
        <p:blipFill>
          <a:blip r:embed="rId2"/>
          <a:stretch/>
        </p:blipFill>
        <p:spPr>
          <a:xfrm>
            <a:off x="5943600" y="1305720"/>
            <a:ext cx="3429000" cy="52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"/>
          <p:cNvPicPr/>
          <p:nvPr/>
        </p:nvPicPr>
        <p:blipFill>
          <a:blip r:embed="rId3"/>
          <a:stretch/>
        </p:blipFill>
        <p:spPr>
          <a:xfrm>
            <a:off x="5943600" y="1894680"/>
            <a:ext cx="3886200" cy="3259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Uniform Distribution Results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2525400" y="4114800"/>
            <a:ext cx="50292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Final estimate: 3.141504 (500,000 points, 5 correct digits)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Error: 0.0028%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accurate until all points are accounted for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"/>
          <p:cNvPicPr/>
          <p:nvPr/>
        </p:nvPicPr>
        <p:blipFill>
          <a:blip r:embed="rId1"/>
          <a:stretch/>
        </p:blipFill>
        <p:spPr>
          <a:xfrm>
            <a:off x="2338200" y="907200"/>
            <a:ext cx="5403960" cy="3207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Uniform Distribution Conclusion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85800" y="2743200"/>
            <a:ext cx="907164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 500,000 points the uniform sampling produced a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more accurate estimate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Monte Carlo has a high variance between runs due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randomness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uniform sampling is deterministic, it will give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same result for the same number of points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7" name=""/>
          <p:cNvGraphicFramePr/>
          <p:nvPr/>
        </p:nvGraphicFramePr>
        <p:xfrm>
          <a:off x="1829160" y="1393920"/>
          <a:ext cx="6422400" cy="1599840"/>
        </p:xfrm>
        <a:graphic>
          <a:graphicData uri="http://schemas.openxmlformats.org/drawingml/2006/table">
            <a:tbl>
              <a:tblPr/>
              <a:tblGrid>
                <a:gridCol w="1605240"/>
                <a:gridCol w="1605240"/>
                <a:gridCol w="1605240"/>
                <a:gridCol w="1606680"/>
              </a:tblGrid>
              <a:tr h="28728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Method</a:t>
                      </a:r>
                      <a:endParaRPr lang="en-US" sz="12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bf570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Pi Approximation</a:t>
                      </a:r>
                      <a:endParaRPr lang="en-US" sz="12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bf570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Error</a:t>
                      </a:r>
                      <a:endParaRPr lang="en-US" sz="12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bf570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Correct Digits</a:t>
                      </a:r>
                      <a:endParaRPr lang="en-US" sz="12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bf5700"/>
                    </a:solidFill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Monte Carlo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 anchorCtr="1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3.142392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0.0324%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Uniform Sampling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 anchorCtr="1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3.141504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0.0028%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Buffon’s Needle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753800" cy="164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Drop a needle randomly onto parallel lines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 if the needle crosses a line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Repeat many times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crossing probability to estimate pi: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"/>
          <p:cNvPicPr/>
          <p:nvPr/>
        </p:nvPicPr>
        <p:blipFill>
          <a:blip r:embed="rId1"/>
          <a:stretch/>
        </p:blipFill>
        <p:spPr>
          <a:xfrm>
            <a:off x="685800" y="3155760"/>
            <a:ext cx="4343400" cy="50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"/>
          <p:cNvPicPr/>
          <p:nvPr/>
        </p:nvPicPr>
        <p:blipFill>
          <a:blip r:embed="rId2"/>
          <a:stretch/>
        </p:blipFill>
        <p:spPr>
          <a:xfrm>
            <a:off x="5715000" y="1371600"/>
            <a:ext cx="3624480" cy="22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"/>
          <p:cNvPicPr/>
          <p:nvPr/>
        </p:nvPicPr>
        <p:blipFill>
          <a:blip r:embed="rId3"/>
          <a:stretch/>
        </p:blipFill>
        <p:spPr>
          <a:xfrm>
            <a:off x="5715000" y="3729240"/>
            <a:ext cx="3539880" cy="129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Buffon’s Needle Results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"/>
          <p:cNvPicPr/>
          <p:nvPr/>
        </p:nvPicPr>
        <p:blipFill>
          <a:blip r:embed="rId1"/>
          <a:stretch/>
        </p:blipFill>
        <p:spPr>
          <a:xfrm>
            <a:off x="2210760" y="914400"/>
            <a:ext cx="5658480" cy="311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"/>
          <p:cNvSpPr txBox="1"/>
          <p:nvPr/>
        </p:nvSpPr>
        <p:spPr>
          <a:xfrm>
            <a:off x="2514600" y="4026600"/>
            <a:ext cx="5486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Final estimate: 3.146851 (500,000 needles, 3 correct digits)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Error: 0.1674%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 variation like Monte Carlo due to random sampling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3Blue1Brown Video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"/>
          <p:cNvPicPr/>
          <p:nvPr/>
        </p:nvPicPr>
        <p:blipFill>
          <a:blip r:embed="rId1"/>
          <a:stretch/>
        </p:blipFill>
        <p:spPr>
          <a:xfrm>
            <a:off x="2411280" y="1157760"/>
            <a:ext cx="5257800" cy="2957040"/>
          </a:xfrm>
          <a:prstGeom prst="rect">
            <a:avLst/>
          </a:prstGeom>
          <a:noFill/>
          <a:ln w="0">
            <a:noFill/>
          </a:ln>
          <a:effectLst>
            <a:softEdge rad="25560"/>
          </a:effectLst>
        </p:spPr>
      </p:pic>
      <p:sp>
        <p:nvSpPr>
          <p:cNvPr id="58" name=""/>
          <p:cNvSpPr txBox="1"/>
          <p:nvPr/>
        </p:nvSpPr>
        <p:spPr>
          <a:xfrm>
            <a:off x="2427840" y="4144680"/>
            <a:ext cx="6716160" cy="111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hlinkClick r:id="rId2"/>
              </a:rPr>
              <a:t>https://youtu.be/6dTyOl1fmDo?si=2Ytav6EkIzkjxDS_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My simulation is inspired by 3Blue1Brown: “Why colliding blocks compute pi”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Collision Simulation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55200" y="1143000"/>
            <a:ext cx="8260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Two blocks on a friction-less surface with a wall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One block moves with constant velocity towards the other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blocks collide elastically until no more collisions occur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Mass ratio controls how many digits of pi emerge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Implementation details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Euler’s method is too inaccurate for collisions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an event driven simulation instead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Implementation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"/>
          <p:cNvPicPr/>
          <p:nvPr/>
        </p:nvPicPr>
        <p:blipFill>
          <a:blip r:embed="rId1"/>
          <a:stretch/>
        </p:blipFill>
        <p:spPr>
          <a:xfrm>
            <a:off x="457200" y="2743200"/>
            <a:ext cx="5029200" cy="231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"/>
          <p:cNvPicPr/>
          <p:nvPr/>
        </p:nvPicPr>
        <p:blipFill>
          <a:blip r:embed="rId2"/>
          <a:stretch/>
        </p:blipFill>
        <p:spPr>
          <a:xfrm>
            <a:off x="5486400" y="1172520"/>
            <a:ext cx="4419360" cy="385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"/>
          <p:cNvSpPr txBox="1"/>
          <p:nvPr/>
        </p:nvSpPr>
        <p:spPr>
          <a:xfrm>
            <a:off x="457200" y="914400"/>
            <a:ext cx="4800600" cy="171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Compute the time to next collision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no collision: advance positions normally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If collision occurs: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Jump to exact collision time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Apply elastic collision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Repeat for the remaining time in the animation frame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0080000" cy="548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Questions?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2026-03-25T19:14:07Z</dcterms:created>
  <dc:creator/>
  <dc:description/>
  <dc:language>en-US</dc:language>
  <cp:lastModifiedBy/>
  <dcterms:modified xsi:type="dcterms:W3CDTF">2026-03-27T02:29:57Z</dcterms:modified>
  <cp:revision>13</cp:revision>
  <dc:subject/>
  <dc:title/>
</cp:coreProperties>
</file>